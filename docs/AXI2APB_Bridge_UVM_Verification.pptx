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UVM environment to verify the PULP axi2apb bridge. The AXI master agent drives the bridge, the APB slave agent answers on the other side. Submitted to Engr. Shahbaz Ahmad.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the UVM final project specification. Key rule: the DUT must not be modified. The environment follows the spec milestones: dual-agent environment, agents, scoreboard and reference model, directed tests, random tests, regression and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DUT is the PULP axi2apb module with five channel buffers built on axi_single_slice and a generic fifo. These four RTL behaviours were documented and verified rather than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FSM has five states. The last line matters later: it explains why the FSM coverage could not reach 100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agents are active. The two monitors feed the scoreboard and the coverage collector through analysis ports, so every check is transaction based, not waveform based.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AXI agent represents the AXI master side, the APB agent represents the APB slave side. Neither is RTL: both are testbench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scoreboard compares transactions, not waveforms, as the spec asks. Coverage is collected from the same monitor streams.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methodology as the earlier APB project (docs, rtl, sim, tb) but extended to the full structure the spec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highlighted coverage_closure_test was added to hit the remaining functional cross bins. Directed tests were written before the random ones, as the spec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build-folder methodology as the earlier APB project: one build folder per test, logs and results outside sim. Variables have defaults (reset_test, seed 1, UVM_LOW).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choice: the UVM test name is a run-time plusarg, so the regression compiles only once instead of 17 times. Coverage metrics enabled: line, condition, FSM, toggle, branch and assertion.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regression: all 17 tests finished with UVM_ERROR 0 and UVM_FATAL 0. Functional coverage reached 100 percent with the coverage closure test. Structural coverage is lower; the next slide explains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engineering trade-off from the report. The FSM transitions that need a combinational zero-wait response are a testbench limitation. No DUT bug was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sign-off and the reproduce steps. The repository link is in the box on the right. Thank the instructor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00" kern="0" dirty="0">
                <a:solidFill>
                  <a:srgbClr val="3CC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UVM FINAL PROJECT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73228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4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AXI4-to-APB Bridge</a:t>
            </a:r>
            <a:endParaRPr lang="en-US" sz="5600" dirty="0"/>
          </a:p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4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UVM Verification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479800"/>
            <a:ext cx="91567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Dual-agent UVM environment, scoreboard, functional coverage and a 17-test regression for the PULP axi2apb RTL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9150" y="4359910"/>
            <a:ext cx="2070100" cy="434340"/>
          </a:xfrm>
          <a:prstGeom prst="roundRect">
            <a:avLst>
              <a:gd name="adj" fmla="val 16082"/>
            </a:avLst>
          </a:prstGeom>
          <a:solidFill>
            <a:srgbClr val="17283D"/>
          </a:solidFill>
          <a:ln w="12700">
            <a:solidFill>
              <a:srgbClr val="3CC8A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AXI master agent</a:t>
            </a:r>
            <a:endParaRPr lang="en-US" sz="14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22600" y="4450080"/>
            <a:ext cx="4572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06800" y="4351020"/>
            <a:ext cx="1529080" cy="452120"/>
          </a:xfrm>
          <a:prstGeom prst="roundRect">
            <a:avLst>
              <a:gd name="adj" fmla="val 16854"/>
            </a:avLst>
          </a:prstGeom>
          <a:solidFill>
            <a:srgbClr val="F4F2E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1B2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axi2apb DUT</a:t>
            </a:r>
            <a:endParaRPr lang="en-US" sz="14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62880" y="4450080"/>
            <a:ext cx="457200" cy="25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3430" y="4359910"/>
            <a:ext cx="1963420" cy="434340"/>
          </a:xfrm>
          <a:prstGeom prst="roundRect">
            <a:avLst>
              <a:gd name="adj" fmla="val 16082"/>
            </a:avLst>
          </a:prstGeom>
          <a:solidFill>
            <a:srgbClr val="17283D"/>
          </a:solidFill>
          <a:ln w="12700">
            <a:solidFill>
              <a:srgbClr val="F0B44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APB slave agent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2800" y="5473700"/>
            <a:ext cx="28906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Muhammad Sheharyar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12800" y="5796280"/>
            <a:ext cx="336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Submitted to Engr. Shahbaz Ahmad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800850" y="5796280"/>
            <a:ext cx="4578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Synopsys VCS · UVM 1.2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543050"/>
            <a:ext cx="5168900" cy="1376680"/>
          </a:xfrm>
          <a:prstGeom prst="roundRect">
            <a:avLst>
              <a:gd name="adj" fmla="val 6919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800860"/>
            <a:ext cx="47928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6960" y="2164080"/>
            <a:ext cx="47928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 reusable UVM environment that verifies the supplied PULP axi2apb bridge.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3950" y="1543050"/>
            <a:ext cx="5168900" cy="1376680"/>
          </a:xfrm>
          <a:prstGeom prst="roundRect">
            <a:avLst>
              <a:gd name="adj" fmla="val 6919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760" y="1800860"/>
            <a:ext cx="47928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rule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61760" y="2164080"/>
            <a:ext cx="47928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DUT is never modified. Only testbench changes are allowed to make tests pass.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150" y="3135630"/>
            <a:ext cx="5168900" cy="1625600"/>
          </a:xfrm>
          <a:prstGeom prst="roundRect">
            <a:avLst>
              <a:gd name="adj" fmla="val 5859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6960" y="3393440"/>
            <a:ext cx="47928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 deliverables covered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6960" y="3756660"/>
            <a:ext cx="479287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Dual-agent environment, AXI and APB agents, scoreboard, functional coverage, directed and random tests, regression.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3950" y="3135630"/>
            <a:ext cx="5168900" cy="1625600"/>
          </a:xfrm>
          <a:prstGeom prst="roundRect">
            <a:avLst>
              <a:gd name="adj" fmla="val 5859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1760" y="3393440"/>
            <a:ext cx="47928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61760" y="3756660"/>
            <a:ext cx="47928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Milestone-based work in a GitHub repository, with the final verification report and a repeatable Makefile flow.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66400" y="62382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DUT: axi2apb bridge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9150" y="1492250"/>
            <a:ext cx="3075940" cy="723900"/>
          </a:xfrm>
          <a:prstGeom prst="roundRect">
            <a:avLst>
              <a:gd name="adj" fmla="val 9649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square" lIns="68137" tIns="110352" rIns="68137" bIns="8495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AXI4 slave port</a:t>
            </a:r>
            <a:endParaRPr lang="en-US" sz="1300" dirty="0"/>
          </a:p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 · W · B · AR · R</a:t>
            </a:r>
            <a:endParaRPr lang="en-US" sz="1300" dirty="0"/>
          </a:p>
        </p:txBody>
      </p:sp>
      <p:pic>
        <p:nvPicPr>
          <p:cNvPr id="4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8440" y="1727200"/>
            <a:ext cx="4064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61840" y="1496061"/>
            <a:ext cx="3068320" cy="716280"/>
          </a:xfrm>
          <a:prstGeom prst="roundRect">
            <a:avLst>
              <a:gd name="adj" fmla="val 10638"/>
            </a:avLst>
          </a:prstGeom>
          <a:solidFill>
            <a:srgbClr val="14213D"/>
          </a:solidFill>
          <a:ln/>
        </p:spPr>
        <p:txBody>
          <a:bodyPr wrap="square" lIns="62467" tIns="104682" rIns="62467" bIns="7928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 buffers + FSM</a:t>
            </a:r>
            <a:endParaRPr lang="en-US" sz="1300" dirty="0"/>
          </a:p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fifo depth 4</a:t>
            </a:r>
            <a:endParaRPr lang="en-US" sz="1300" dirty="0"/>
          </a:p>
        </p:txBody>
      </p:sp>
      <p:pic>
        <p:nvPicPr>
          <p:cNvPr id="6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57160" y="1727200"/>
            <a:ext cx="406400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96910" y="1492250"/>
            <a:ext cx="3075940" cy="723900"/>
          </a:xfrm>
          <a:prstGeom prst="roundRect">
            <a:avLst>
              <a:gd name="adj" fmla="val 9649"/>
            </a:avLst>
          </a:prstGeom>
          <a:solidFill>
            <a:srgbClr val="FBFAF6"/>
          </a:solidFill>
          <a:ln w="12700">
            <a:solidFill>
              <a:srgbClr val="8A5A00"/>
            </a:solidFill>
            <a:prstDash val="solid"/>
          </a:ln>
        </p:spPr>
        <p:txBody>
          <a:bodyPr wrap="square" lIns="68137" tIns="110352" rIns="68137" bIns="8495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APB master port</a:t>
            </a:r>
            <a:endParaRPr lang="en-US" sz="1300" dirty="0"/>
          </a:p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PENABLE · PADDR · PWDATA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19150" y="2482850"/>
            <a:ext cx="5181600" cy="880745"/>
          </a:xfrm>
          <a:prstGeom prst="roundRect">
            <a:avLst>
              <a:gd name="adj" fmla="val 10815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2664461"/>
            <a:ext cx="48582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has priority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51560" y="2959100"/>
            <a:ext cx="4858283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IDLE the FSM serves AR before AW.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1250" y="2482850"/>
            <a:ext cx="5181600" cy="880745"/>
          </a:xfrm>
          <a:prstGeom prst="roundRect">
            <a:avLst>
              <a:gd name="adj" fmla="val 10815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23660" y="2664461"/>
            <a:ext cx="48582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needs AW and 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23660" y="2959100"/>
            <a:ext cx="4858283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write starts only when both are valid together.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9150" y="3554095"/>
            <a:ext cx="5181600" cy="880745"/>
          </a:xfrm>
          <a:prstGeom prst="roundRect">
            <a:avLst>
              <a:gd name="adj" fmla="val 10815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51560" y="3735705"/>
            <a:ext cx="48582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Single-beat only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51560" y="4030345"/>
            <a:ext cx="494284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burst support: AWLEN and ARLEN are buffered but ignored.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91250" y="3554095"/>
            <a:ext cx="5181600" cy="880745"/>
          </a:xfrm>
          <a:prstGeom prst="roundRect">
            <a:avLst>
              <a:gd name="adj" fmla="val 10815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23660" y="3735705"/>
            <a:ext cx="48582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PSLVERR and WSTRB ignored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23660" y="4030345"/>
            <a:ext cx="4858283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BRESP and RRESP are always OKAY. PSEL is tied to 1.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566400" y="62382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Bridge FSM: five states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96060"/>
          <a:ext cx="10556240" cy="2141220"/>
        </p:xfrm>
        <a:graphic>
          <a:graphicData uri="http://schemas.openxmlformats.org/drawingml/2006/table">
            <a:tbl>
              <a:tblPr/>
              <a:tblGrid>
                <a:gridCol w="2322373"/>
                <a:gridCol w="5066995"/>
                <a:gridCol w="3166872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Behaviour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 first; write needs AW and 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 other state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WAIT_R_PREADY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PENABLE high, waits for PREADY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DONE_SINGLE_RD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WAIT_W_PREADY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PENABLE and PWRITE high, waits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SEND_B_RESP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DONE_SINGLE_RD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RVALID and RLAST until RREADY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SEND_B_RESP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BVALID until BREADY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891280"/>
            <a:ext cx="98107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PREADY is checked directly in IDLE, so a zero-wait APB slave moves IDLE straight to SEND_B_RESP or DONE_SINGLE_RD.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UVM environment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325" y="1470025"/>
            <a:ext cx="3359150" cy="927735"/>
          </a:xfrm>
          <a:prstGeom prst="roundRect">
            <a:avLst>
              <a:gd name="adj" fmla="val 9925"/>
            </a:avLst>
          </a:prstGeom>
          <a:solidFill>
            <a:srgbClr val="17283D"/>
          </a:solidFill>
          <a:ln w="19050">
            <a:solidFill>
              <a:srgbClr val="3CC8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1240" y="1653539"/>
            <a:ext cx="30295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CC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 master agent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31240" y="1991361"/>
            <a:ext cx="302956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Sequencer · driver · monitor</a:t>
            </a:r>
            <a:endParaRPr lang="en-US" sz="13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794194"/>
            <a:ext cx="457200" cy="279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53000" y="1475739"/>
            <a:ext cx="2286000" cy="916305"/>
          </a:xfrm>
          <a:prstGeom prst="roundRect">
            <a:avLst>
              <a:gd name="adj" fmla="val 11088"/>
            </a:avLst>
          </a:prstGeom>
          <a:solidFill>
            <a:srgbClr val="F4F2EC"/>
          </a:solidFill>
          <a:ln/>
        </p:spPr>
      </p:sp>
      <p:sp>
        <p:nvSpPr>
          <p:cNvPr id="8" name="Text 5"/>
          <p:cNvSpPr/>
          <p:nvPr/>
        </p:nvSpPr>
        <p:spPr>
          <a:xfrm>
            <a:off x="5156200" y="1653539"/>
            <a:ext cx="193598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DUT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156200" y="1991361"/>
            <a:ext cx="193598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 in, APB out</a:t>
            </a:r>
            <a:endParaRPr lang="en-US" sz="13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91400" y="1794194"/>
            <a:ext cx="457200" cy="279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010525" y="1470025"/>
            <a:ext cx="3359150" cy="927735"/>
          </a:xfrm>
          <a:prstGeom prst="roundRect">
            <a:avLst>
              <a:gd name="adj" fmla="val 9925"/>
            </a:avLst>
          </a:prstGeom>
          <a:solidFill>
            <a:srgbClr val="17283D"/>
          </a:solidFill>
          <a:ln w="19050">
            <a:solidFill>
              <a:srgbClr val="F0B4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19440" y="1653539"/>
            <a:ext cx="30295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B4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APB slave agent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219440" y="1991361"/>
            <a:ext cx="302956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Sequencer · driver · monitor</a:t>
            </a:r>
            <a:endParaRPr lang="en-US" sz="1300" dirty="0"/>
          </a:p>
        </p:txBody>
      </p:sp>
      <p:pic>
        <p:nvPicPr>
          <p:cNvPr id="14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76600" y="2635886"/>
            <a:ext cx="27940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1175" y="3080386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 monitor, analysis port</a:t>
            </a:r>
            <a:endParaRPr lang="en-US" sz="1200" dirty="0"/>
          </a:p>
        </p:txBody>
      </p:sp>
      <p:pic>
        <p:nvPicPr>
          <p:cNvPr id="16" name="Image 3" descr="arrow-dow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36000" y="2635886"/>
            <a:ext cx="27940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40575" y="3080386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APB monitor, analysis port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19150" y="3528696"/>
            <a:ext cx="5194300" cy="829945"/>
          </a:xfrm>
          <a:prstGeom prst="roundRect">
            <a:avLst>
              <a:gd name="adj" fmla="val 11477"/>
            </a:avLst>
          </a:prstGeom>
          <a:solidFill>
            <a:srgbClr val="17283D"/>
          </a:solidFill>
          <a:ln w="12700">
            <a:solidFill>
              <a:srgbClr val="B8C4D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026160" y="3684907"/>
            <a:ext cx="49236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Scoreboard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026160" y="3979546"/>
            <a:ext cx="492368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Matches AXI and APB transactions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78550" y="3528696"/>
            <a:ext cx="5194300" cy="829945"/>
          </a:xfrm>
          <a:prstGeom prst="roundRect">
            <a:avLst>
              <a:gd name="adj" fmla="val 11477"/>
            </a:avLst>
          </a:prstGeom>
          <a:solidFill>
            <a:srgbClr val="17283D"/>
          </a:solidFill>
          <a:ln w="12700">
            <a:solidFill>
              <a:srgbClr val="B8C4D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385560" y="3684907"/>
            <a:ext cx="49236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 collector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85560" y="3979546"/>
            <a:ext cx="492368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Samples cg_axi and cg_apb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two agents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11300"/>
            <a:ext cx="5181600" cy="2562860"/>
          </a:xfrm>
          <a:prstGeom prst="roundRect">
            <a:avLst>
              <a:gd name="adj" fmla="val 3964"/>
            </a:avLst>
          </a:prstGeom>
          <a:solidFill>
            <a:srgbClr val="FBFAF6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11300"/>
            <a:ext cx="5181600" cy="2562860"/>
          </a:xfrm>
          <a:custGeom>
            <a:avLst/>
            <a:gdLst/>
            <a:ahLst/>
            <a:cxnLst/>
            <a:rect l="l" t="t" r="r" b="b"/>
            <a:pathLst>
              <a:path w="5181600" h="25628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B6E5E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81610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 master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5032" y="2273300"/>
            <a:ext cx="4727956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Driver: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VALID/READY handshakes on AW, W and AR, with BREADY and RREADY delays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rebuilds complete read and write transactions from channel activity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Sequences: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write, read, random and a single-item wrapper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511300"/>
            <a:ext cx="5181600" cy="2562860"/>
          </a:xfrm>
          <a:prstGeom prst="roundRect">
            <a:avLst>
              <a:gd name="adj" fmla="val 3964"/>
            </a:avLst>
          </a:prstGeom>
          <a:solidFill>
            <a:srgbClr val="FBFAF6"/>
          </a:solidFill>
          <a:ln/>
        </p:spPr>
      </p:sp>
      <p:sp>
        <p:nvSpPr>
          <p:cNvPr id="8" name="Shape 6"/>
          <p:cNvSpPr/>
          <p:nvPr/>
        </p:nvSpPr>
        <p:spPr>
          <a:xfrm>
            <a:off x="6197600" y="1511300"/>
            <a:ext cx="5181600" cy="2562860"/>
          </a:xfrm>
          <a:custGeom>
            <a:avLst/>
            <a:gdLst/>
            <a:ahLst/>
            <a:cxnLst/>
            <a:rect l="l" t="t" r="r" b="b"/>
            <a:pathLst>
              <a:path w="5181600" h="25628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8A5A00"/>
          </a:solidFill>
          <a:ln/>
        </p:spPr>
      </p:sp>
      <p:sp>
        <p:nvSpPr>
          <p:cNvPr id="9" name="Text 7"/>
          <p:cNvSpPr/>
          <p:nvPr/>
        </p:nvSpPr>
        <p:spPr>
          <a:xfrm>
            <a:off x="6451600" y="181610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APB slave agent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29832" y="2273300"/>
            <a:ext cx="4727956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Driver: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answers PREADY, PRDATA and PSLVERR with configurable wait states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observes PSEL and PENABLE requests and their completion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Stimulus: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programmable wait states, read data and error response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Scoreboard and coverage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517650"/>
            <a:ext cx="5168900" cy="2519680"/>
          </a:xfrm>
          <a:prstGeom prst="roundRect">
            <a:avLst>
              <a:gd name="adj" fmla="val 3780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775461"/>
            <a:ext cx="47928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55192" y="2232661"/>
            <a:ext cx="4707026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Keeps queues of AXI and APB transactions and matches them in order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address, data, ID and USER propagation through the bridge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that every AXI response is OKAY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 each mismatch as a UVM error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3950" y="1517650"/>
            <a:ext cx="5168900" cy="2519680"/>
          </a:xfrm>
          <a:prstGeom prst="roundRect">
            <a:avLst>
              <a:gd name="adj" fmla="val 3780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760" y="1775461"/>
            <a:ext cx="47928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Functional coverage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9992" y="2232661"/>
            <a:ext cx="470702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Fed by both monitors through uvm_analysis_imp_decl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covergroups: cg_axi and cg_apb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vs write, APB wait states 0, 1 and 5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BREADY and RREADY delays, address and data patterns, plus crosses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Repository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517650"/>
            <a:ext cx="5168900" cy="2217420"/>
          </a:xfrm>
          <a:prstGeom prst="roundRect">
            <a:avLst>
              <a:gd name="adj" fmla="val 4296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750061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E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rtl/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73960" y="1750061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DUT and channel buffers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6960" y="2125982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E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tb/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73960" y="2125982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Interfaces, UVM package, tb_top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6960" y="2501900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E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uvm/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73960" y="2501900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axi, apb and env components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6960" y="2877821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E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sequences/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73960" y="2877821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 stimulus sequences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6960" y="3253739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E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tests/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73960" y="3253739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test, 14 directed, 3 random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3950" y="1517650"/>
            <a:ext cx="5168900" cy="2217420"/>
          </a:xfrm>
          <a:prstGeom prst="roundRect">
            <a:avLst>
              <a:gd name="adj" fmla="val 4296"/>
            </a:avLst>
          </a:prstGeom>
          <a:solidFill>
            <a:srgbClr val="FBFAF6"/>
          </a:solidFill>
          <a:ln w="12700">
            <a:solidFill>
              <a:srgbClr val="DC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760" y="1750061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sim/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58760" y="1750061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Makefile, build.flist, out/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1760" y="2125982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scripts/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58760" y="2125982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parse_log.py log parser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1760" y="2501900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logs/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58760" y="2501900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Simulation logs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1760" y="2877821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results/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58760" y="2877821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Regression summary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61760" y="3253739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docs/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58760" y="3253739"/>
            <a:ext cx="335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Verification plan and final report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4020821"/>
            <a:ext cx="9810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layout follows the folder structure required by the project specification.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 tests: 14 directed, 3 random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9150" y="1939292"/>
            <a:ext cx="112522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reset_test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45970" y="1939292"/>
            <a:ext cx="203962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axi_write_ready_test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87190" y="1939292"/>
            <a:ext cx="194818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axi_read_ready_test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36970" y="1939292"/>
            <a:ext cx="194818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axi_write_wait_test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86750" y="1939292"/>
            <a:ext cx="185674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axi_read_wait_test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50" y="2363471"/>
            <a:ext cx="176530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bready_delay_test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86050" y="2363471"/>
            <a:ext cx="176530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rready_delay_test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2950" y="2363471"/>
            <a:ext cx="194818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rd_wr_priority_test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02730" y="2363471"/>
            <a:ext cx="158242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bk2bk_read_test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86750" y="2363471"/>
            <a:ext cx="167386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bk2bk_write_test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150" y="2787650"/>
            <a:ext cx="1856740" cy="327660"/>
          </a:xfrm>
          <a:prstGeom prst="roundRect">
            <a:avLst>
              <a:gd name="adj" fmla="val 17442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mixed_traffic_test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77490" y="2787650"/>
            <a:ext cx="1308100" cy="327660"/>
          </a:xfrm>
          <a:prstGeom prst="roundRect">
            <a:avLst>
              <a:gd name="adj" fmla="val 17442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id_user_test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87190" y="2787650"/>
            <a:ext cx="1308100" cy="327660"/>
          </a:xfrm>
          <a:prstGeom prst="roundRect">
            <a:avLst>
              <a:gd name="adj" fmla="val 17442"/>
            </a:avLst>
          </a:prstGeom>
          <a:solidFill>
            <a:srgbClr val="FBFAF6"/>
          </a:solidFill>
          <a:ln w="12700">
            <a:solidFill>
              <a:srgbClr val="0B6E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pslverr_test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90540" y="2781300"/>
            <a:ext cx="2148840" cy="340360"/>
          </a:xfrm>
          <a:prstGeom prst="roundRect">
            <a:avLst>
              <a:gd name="adj" fmla="val 18657"/>
            </a:avLst>
          </a:prstGeom>
          <a:solidFill>
            <a:srgbClr val="0B6E5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coverage_closure_test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3350264"/>
            <a:ext cx="108833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Constrained-random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9150" y="3829050"/>
            <a:ext cx="103378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8A5A0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rand_test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54530" y="3829050"/>
            <a:ext cx="240538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8A5A0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rand_axi_test (100 txns)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61510" y="3829050"/>
            <a:ext cx="2588260" cy="322580"/>
          </a:xfrm>
          <a:prstGeom prst="roundRect">
            <a:avLst>
              <a:gd name="adj" fmla="val 17717"/>
            </a:avLst>
          </a:prstGeom>
          <a:solidFill>
            <a:srgbClr val="FBFAF6"/>
          </a:solidFill>
          <a:ln w="12700">
            <a:solidFill>
              <a:srgbClr val="8A5A0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rand_mixed_test (100 txns)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4386579"/>
            <a:ext cx="98107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Directed tests cover the spec list: reset, ready and wait states, BREADY and RREADY delay, read priority, back-to-back, mixed traffic, ID and USER, PSLVERR.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Makefile: targets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70660"/>
          <a:ext cx="10556240" cy="2498090"/>
        </p:xfrm>
        <a:graphic>
          <a:graphicData uri="http://schemas.openxmlformats.org/drawingml/2006/table">
            <a:tbl>
              <a:tblPr/>
              <a:tblGrid>
                <a:gridCol w="2322373"/>
                <a:gridCol w="8233867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Target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compile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VCS build of one test into out/build_TEST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Compile, run with SEED, write the log, auto-parse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gui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the waveform GUI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regression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Compile once, run all 17 tests, write regression_summary.txt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Combined urg coverage report in out/coverage_report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clean, allclean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Remove one test build, or every build, log and result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2800" y="4197350"/>
            <a:ext cx="10566400" cy="894080"/>
          </a:xfrm>
          <a:prstGeom prst="roundRect">
            <a:avLst>
              <a:gd name="adj" fmla="val 11364"/>
            </a:avLst>
          </a:prstGeom>
          <a:solidFill>
            <a:srgbClr val="14213D"/>
          </a:solidFill>
          <a:ln/>
        </p:spPr>
      </p:sp>
      <p:sp>
        <p:nvSpPr>
          <p:cNvPr id="5" name="Text 2"/>
          <p:cNvSpPr/>
          <p:nvPr/>
        </p:nvSpPr>
        <p:spPr>
          <a:xfrm>
            <a:off x="1066800" y="4375150"/>
            <a:ext cx="103601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Variables: TEST, SEED, VERBOSITY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6800" y="4664714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CC8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make sim TEST=bk2bk_write_test SEED=5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Makefile: regression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605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17283D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460500"/>
            <a:ext cx="2032000" cy="1016000"/>
          </a:xfrm>
          <a:custGeom>
            <a:avLst/>
            <a:gdLst/>
            <a:ahLst/>
            <a:cxnLst/>
            <a:rect l="l" t="t" r="r" b="b"/>
            <a:pathLst>
              <a:path w="2032000" h="10160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3CC8AC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648464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CC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Compile once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5200" y="1912621"/>
            <a:ext cx="177901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VCS build in out/build_regression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46400" y="14605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17283D"/>
          </a:solidFill>
          <a:ln/>
        </p:spPr>
      </p:sp>
      <p:sp>
        <p:nvSpPr>
          <p:cNvPr id="8" name="Shape 6"/>
          <p:cNvSpPr/>
          <p:nvPr/>
        </p:nvSpPr>
        <p:spPr>
          <a:xfrm>
            <a:off x="2946400" y="1460500"/>
            <a:ext cx="2032000" cy="1016000"/>
          </a:xfrm>
          <a:custGeom>
            <a:avLst/>
            <a:gdLst/>
            <a:ahLst/>
            <a:cxnLst/>
            <a:rect l="l" t="t" r="r" b="b"/>
            <a:pathLst>
              <a:path w="2032000" h="10160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3CC8AC"/>
          </a:solidFill>
          <a:ln/>
        </p:spPr>
      </p:sp>
      <p:sp>
        <p:nvSpPr>
          <p:cNvPr id="9" name="Text 7"/>
          <p:cNvSpPr/>
          <p:nvPr/>
        </p:nvSpPr>
        <p:spPr>
          <a:xfrm>
            <a:off x="3098800" y="1648464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CC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Run 17 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98800" y="1912621"/>
            <a:ext cx="177901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chosen at run time, same seed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80000" y="14605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17283D"/>
          </a:solidFill>
          <a:ln/>
        </p:spPr>
      </p:sp>
      <p:sp>
        <p:nvSpPr>
          <p:cNvPr id="12" name="Shape 10"/>
          <p:cNvSpPr/>
          <p:nvPr/>
        </p:nvSpPr>
        <p:spPr>
          <a:xfrm>
            <a:off x="5080000" y="1460500"/>
            <a:ext cx="2032000" cy="1016000"/>
          </a:xfrm>
          <a:custGeom>
            <a:avLst/>
            <a:gdLst/>
            <a:ahLst/>
            <a:cxnLst/>
            <a:rect l="l" t="t" r="r" b="b"/>
            <a:pathLst>
              <a:path w="2032000" h="10160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3CC8AC"/>
          </a:solidFill>
          <a:ln/>
        </p:spPr>
      </p:sp>
      <p:sp>
        <p:nvSpPr>
          <p:cNvPr id="13" name="Text 11"/>
          <p:cNvSpPr/>
          <p:nvPr/>
        </p:nvSpPr>
        <p:spPr>
          <a:xfrm>
            <a:off x="5232400" y="1648464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CC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Check each 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2400" y="1912621"/>
            <a:ext cx="177901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UVM_ERROR and UVM_FATAL both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13600" y="14605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1728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3600" y="1460500"/>
            <a:ext cx="2032000" cy="1016000"/>
          </a:xfrm>
          <a:custGeom>
            <a:avLst/>
            <a:gdLst/>
            <a:ahLst/>
            <a:cxnLst/>
            <a:rect l="l" t="t" r="r" b="b"/>
            <a:pathLst>
              <a:path w="2032000" h="10160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0B44C"/>
          </a:solidFill>
          <a:ln/>
        </p:spPr>
      </p:sp>
      <p:sp>
        <p:nvSpPr>
          <p:cNvPr id="17" name="Text 15"/>
          <p:cNvSpPr/>
          <p:nvPr/>
        </p:nvSpPr>
        <p:spPr>
          <a:xfrm>
            <a:off x="7366000" y="1648464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B4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Write summary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6000" y="1912621"/>
            <a:ext cx="177901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 or FAIL per test in results/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47200" y="14605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17283D"/>
          </a:solidFill>
          <a:ln/>
        </p:spPr>
      </p:sp>
      <p:sp>
        <p:nvSpPr>
          <p:cNvPr id="20" name="Shape 18"/>
          <p:cNvSpPr/>
          <p:nvPr/>
        </p:nvSpPr>
        <p:spPr>
          <a:xfrm>
            <a:off x="9347200" y="1460500"/>
            <a:ext cx="2032000" cy="1016000"/>
          </a:xfrm>
          <a:custGeom>
            <a:avLst/>
            <a:gdLst/>
            <a:ahLst/>
            <a:cxnLst/>
            <a:rect l="l" t="t" r="r" b="b"/>
            <a:pathLst>
              <a:path w="2032000" h="10160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0B44C"/>
          </a:solidFill>
          <a:ln/>
        </p:spPr>
      </p:sp>
      <p:sp>
        <p:nvSpPr>
          <p:cNvPr id="21" name="Text 19"/>
          <p:cNvSpPr/>
          <p:nvPr/>
        </p:nvSpPr>
        <p:spPr>
          <a:xfrm>
            <a:off x="9499600" y="1648464"/>
            <a:ext cx="1779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B4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make cov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99600" y="1912621"/>
            <a:ext cx="177901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urg merges coverage of all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2705100"/>
            <a:ext cx="10566400" cy="1092200"/>
          </a:xfrm>
          <a:prstGeom prst="roundRect">
            <a:avLst>
              <a:gd name="adj" fmla="val 9302"/>
            </a:avLst>
          </a:prstGeom>
          <a:solidFill>
            <a:srgbClr val="07111E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vcs -sverilog -f build.flist -ntb_opts uvm-1.2 -timescale=1ns/1ps \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-cm line+cond+fsm+tgl+branch+assert -full64 -debug_access+all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./simv -cm_name $t +UVM_TESTNAME=$t +ntb_random_seed=$(SEED)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025900"/>
            <a:ext cx="1013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Out, logs and results folders are created automatically. Every simulation log is parsed by scripts/parse_log.py.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Regression and coverage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85900"/>
            <a:ext cx="3403600" cy="1315720"/>
          </a:xfrm>
          <a:prstGeom prst="roundRect">
            <a:avLst>
              <a:gd name="adj" fmla="val 7722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689100"/>
            <a:ext cx="30347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3C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17/17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1400" y="2367279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94200" y="1485900"/>
            <a:ext cx="3403600" cy="1315720"/>
          </a:xfrm>
          <a:prstGeom prst="roundRect">
            <a:avLst>
              <a:gd name="adj" fmla="val 7722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4622800" y="1689100"/>
            <a:ext cx="30347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3C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622800" y="2367279"/>
            <a:ext cx="31750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UVM errors, 234+ transactions checked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75600" y="1485900"/>
            <a:ext cx="3403600" cy="1315720"/>
          </a:xfrm>
          <a:prstGeom prst="roundRect">
            <a:avLst>
              <a:gd name="adj" fmla="val 772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8204200" y="1689100"/>
            <a:ext cx="30347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3C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04200" y="2367279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functional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055621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78200" y="3078479"/>
            <a:ext cx="4826000" cy="203200"/>
          </a:xfrm>
          <a:prstGeom prst="roundRect">
            <a:avLst>
              <a:gd name="adj" fmla="val 25000"/>
            </a:avLst>
          </a:prstGeom>
          <a:solidFill>
            <a:srgbClr val="DCD8CC"/>
          </a:solidFill>
          <a:ln/>
        </p:spPr>
      </p:sp>
      <p:sp>
        <p:nvSpPr>
          <p:cNvPr id="14" name="Shape 12"/>
          <p:cNvSpPr/>
          <p:nvPr/>
        </p:nvSpPr>
        <p:spPr>
          <a:xfrm>
            <a:off x="3378200" y="3078479"/>
            <a:ext cx="4826000" cy="203200"/>
          </a:xfrm>
          <a:prstGeom prst="roundRect">
            <a:avLst>
              <a:gd name="adj" fmla="val 25000"/>
            </a:avLst>
          </a:prstGeom>
          <a:solidFill>
            <a:srgbClr val="0B6E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600" y="3055621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100.00%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444242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78200" y="3467100"/>
            <a:ext cx="4826000" cy="203200"/>
          </a:xfrm>
          <a:prstGeom prst="roundRect">
            <a:avLst>
              <a:gd name="adj" fmla="val 25000"/>
            </a:avLst>
          </a:prstGeom>
          <a:solidFill>
            <a:srgbClr val="DCD8CC"/>
          </a:solidFill>
          <a:ln/>
        </p:spPr>
      </p:sp>
      <p:sp>
        <p:nvSpPr>
          <p:cNvPr id="18" name="Shape 16"/>
          <p:cNvSpPr/>
          <p:nvPr/>
        </p:nvSpPr>
        <p:spPr>
          <a:xfrm>
            <a:off x="3378200" y="3467100"/>
            <a:ext cx="3860800" cy="203200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/>
        </p:spPr>
      </p:sp>
      <p:sp>
        <p:nvSpPr>
          <p:cNvPr id="19" name="Text 17"/>
          <p:cNvSpPr/>
          <p:nvPr/>
        </p:nvSpPr>
        <p:spPr>
          <a:xfrm>
            <a:off x="8356600" y="3444242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~80.00%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3832864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FSM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78200" y="3855721"/>
            <a:ext cx="4826000" cy="203200"/>
          </a:xfrm>
          <a:prstGeom prst="roundRect">
            <a:avLst>
              <a:gd name="adj" fmla="val 25000"/>
            </a:avLst>
          </a:prstGeom>
          <a:solidFill>
            <a:srgbClr val="DCD8CC"/>
          </a:solidFill>
          <a:ln/>
        </p:spPr>
      </p:sp>
      <p:sp>
        <p:nvSpPr>
          <p:cNvPr id="22" name="Shape 20"/>
          <p:cNvSpPr/>
          <p:nvPr/>
        </p:nvSpPr>
        <p:spPr>
          <a:xfrm>
            <a:off x="3378200" y="3855721"/>
            <a:ext cx="2895600" cy="203200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/>
        </p:spPr>
      </p:sp>
      <p:sp>
        <p:nvSpPr>
          <p:cNvPr id="23" name="Text 21"/>
          <p:cNvSpPr/>
          <p:nvPr/>
        </p:nvSpPr>
        <p:spPr>
          <a:xfrm>
            <a:off x="8356600" y="3832864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60.00%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4221479"/>
            <a:ext cx="2485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78200" y="4244342"/>
            <a:ext cx="4826000" cy="203200"/>
          </a:xfrm>
          <a:prstGeom prst="roundRect">
            <a:avLst>
              <a:gd name="adj" fmla="val 25000"/>
            </a:avLst>
          </a:prstGeom>
          <a:solidFill>
            <a:srgbClr val="DCD8CC"/>
          </a:solidFill>
          <a:ln/>
        </p:spPr>
      </p:sp>
      <p:sp>
        <p:nvSpPr>
          <p:cNvPr id="26" name="Shape 24"/>
          <p:cNvSpPr/>
          <p:nvPr/>
        </p:nvSpPr>
        <p:spPr>
          <a:xfrm>
            <a:off x="3378200" y="4244342"/>
            <a:ext cx="2190750" cy="203200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/>
        </p:spPr>
      </p:sp>
      <p:sp>
        <p:nvSpPr>
          <p:cNvPr id="27" name="Text 25"/>
          <p:cNvSpPr/>
          <p:nvPr/>
        </p:nvSpPr>
        <p:spPr>
          <a:xfrm>
            <a:off x="8356600" y="4221479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45.45%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structural coverage is below 100%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85900"/>
            <a:ext cx="3403600" cy="2603500"/>
          </a:xfrm>
          <a:prstGeom prst="roundRect">
            <a:avLst>
              <a:gd name="adj" fmla="val 3902"/>
            </a:avLst>
          </a:prstGeom>
          <a:solidFill>
            <a:srgbClr val="FBFAF6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485900"/>
            <a:ext cx="3403600" cy="2603500"/>
          </a:xfrm>
          <a:custGeom>
            <a:avLst/>
            <a:gdLst/>
            <a:ahLst/>
            <a:cxnLst/>
            <a:rect l="l" t="t" r="r" b="b"/>
            <a:pathLst>
              <a:path w="3403600" h="26035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8A5A00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65300"/>
            <a:ext cx="30347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FSM 60%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141221"/>
            <a:ext cx="30347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IDLE to SEND_B_RESP and IDLE to DONE_SINGLE_RD need a true zero-wait APB reply.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2936242"/>
            <a:ext cx="303479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blocking-assignment driver raised FSM to 80% but caused delta-cycle races and read mismatches. It was reverted to a stable clocked driver.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485900"/>
            <a:ext cx="3403600" cy="2603500"/>
          </a:xfrm>
          <a:prstGeom prst="roundRect">
            <a:avLst>
              <a:gd name="adj" fmla="val 3902"/>
            </a:avLst>
          </a:prstGeom>
          <a:solidFill>
            <a:srgbClr val="FBFAF6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1485900"/>
            <a:ext cx="3403600" cy="2603500"/>
          </a:xfrm>
          <a:custGeom>
            <a:avLst/>
            <a:gdLst/>
            <a:ahLst/>
            <a:cxnLst/>
            <a:rect l="l" t="t" r="r" b="b"/>
            <a:pathLst>
              <a:path w="3403600" h="26035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8A5A00"/>
          </a:solidFill>
          <a:ln/>
        </p:spPr>
      </p:sp>
      <p:sp>
        <p:nvSpPr>
          <p:cNvPr id="10" name="Text 8"/>
          <p:cNvSpPr/>
          <p:nvPr/>
        </p:nvSpPr>
        <p:spPr>
          <a:xfrm>
            <a:off x="4622800" y="1765300"/>
            <a:ext cx="30347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 45.45%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2800" y="2141221"/>
            <a:ext cx="31750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RTL has dead, parameterized code.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2800" y="2473964"/>
            <a:ext cx="30347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fifo.sv tests DEPTH == 0 but DEPTH is fixed at 4, and PSEL is hard-wired to 1, so these conditions cannot toggle.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600" y="1485900"/>
            <a:ext cx="3403600" cy="2603500"/>
          </a:xfrm>
          <a:prstGeom prst="roundRect">
            <a:avLst>
              <a:gd name="adj" fmla="val 3902"/>
            </a:avLst>
          </a:prstGeom>
          <a:solidFill>
            <a:srgbClr val="FBFA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1485900"/>
            <a:ext cx="3403600" cy="2603500"/>
          </a:xfrm>
          <a:custGeom>
            <a:avLst/>
            <a:gdLst/>
            <a:ahLst/>
            <a:cxnLst/>
            <a:rect l="l" t="t" r="r" b="b"/>
            <a:pathLst>
              <a:path w="3403600" h="26035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8A5A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04200" y="1765300"/>
            <a:ext cx="30347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 ~80%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04200" y="2141221"/>
            <a:ext cx="30347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Uncovered lines are unreachable.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04200" y="2473964"/>
            <a:ext cx="3034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sit in the FSM default case and in unused FIFO branches.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4343400"/>
            <a:ext cx="1013777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testbench stability was preferred over inflating FSM coverage. All gaps are documented as testbench limitations or RTL structure, not DUT bugs.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AXI2APB Bridge · UVM Verification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4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91032" y="1485900"/>
            <a:ext cx="5957570" cy="183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17 tests pass with zero UVM errors and zero scoreboard mismatches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 and USER propagation, wait states and back-pressure are verified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Functional coverage is 100%; structural gaps are analysed and documented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Documented RTL behaviour: single-beat only, WSTRB and PSLVERR ignored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442971"/>
            <a:ext cx="604342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CC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Sign-off status: complete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34200" y="1485900"/>
            <a:ext cx="4445000" cy="1734820"/>
          </a:xfrm>
          <a:prstGeom prst="roundRect">
            <a:avLst>
              <a:gd name="adj" fmla="val 5857"/>
            </a:avLst>
          </a:prstGeom>
          <a:solidFill>
            <a:srgbClr val="07111E"/>
          </a:solidFill>
          <a:ln/>
        </p:spPr>
      </p:sp>
      <p:sp>
        <p:nvSpPr>
          <p:cNvPr id="6" name="Text 4"/>
          <p:cNvSpPr/>
          <p:nvPr/>
        </p:nvSpPr>
        <p:spPr>
          <a:xfrm>
            <a:off x="7162800" y="1663700"/>
            <a:ext cx="41074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62800" y="1940564"/>
            <a:ext cx="4107434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cd sim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make allclean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make regression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make cov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0550" y="3354071"/>
            <a:ext cx="4432300" cy="1066800"/>
          </a:xfrm>
          <a:prstGeom prst="roundRect">
            <a:avLst>
              <a:gd name="adj" fmla="val 8929"/>
            </a:avLst>
          </a:prstGeom>
          <a:solidFill>
            <a:srgbClr val="17283D"/>
          </a:solidFill>
          <a:ln w="12700">
            <a:solidFill>
              <a:srgbClr val="3CC8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2960" y="3535679"/>
            <a:ext cx="40865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72960" y="3812542"/>
            <a:ext cx="40865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C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github.com/Muhammad-sheharyar/AXI-2-APB_Bridge_UVM_Verification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Muhammad Sheharyar · Submitted to Engr. Shahbaz Ahmad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2APB Bridge UVM Verification">
  <a:themeElements>
    <a:clrScheme name="AXI2APB Bridge UVM Verification">
      <a:dk1>
        <a:srgbClr val="14213D"/>
      </a:dk1>
      <a:lt1>
        <a:srgbClr val="F4F2EC"/>
      </a:lt1>
      <a:dk2>
        <a:srgbClr val="4C5569"/>
      </a:dk2>
      <a:lt2>
        <a:srgbClr val="DEDDDB"/>
      </a:lt2>
      <a:accent1>
        <a:srgbClr val="0B6E5E"/>
      </a:accent1>
      <a:accent2>
        <a:srgbClr val="8A5A00"/>
      </a:accent2>
      <a:accent3>
        <a:srgbClr val="3CC8AC"/>
      </a:accent3>
      <a:accent4>
        <a:srgbClr val="F0B44C"/>
      </a:accent4>
      <a:accent5>
        <a:srgbClr val="4A5568"/>
      </a:accent5>
      <a:accent6>
        <a:srgbClr val="B8C4D2"/>
      </a:accent6>
      <a:hlink>
        <a:srgbClr val="0563C1"/>
      </a:hlink>
      <a:folHlink>
        <a:srgbClr val="954F72"/>
      </a:folHlink>
    </a:clrScheme>
    <a:fontScheme name="AXI2APB Bridge UVM Verification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AXI2APB Bridge UVM Verification</dc:title>
  <dc:subject/>
  <dc:creator/>
  <cp:lastModifiedBy/>
  <cp:revision>1</cp:revision>
  <dcterms:created xsi:type="dcterms:W3CDTF">2026-10-18T12:58:18Z</dcterms:created>
  <dcterms:modified xsi:type="dcterms:W3CDTF">2026-10-18T12:58:18Z</dcterms:modified>
</cp:coreProperties>
</file>